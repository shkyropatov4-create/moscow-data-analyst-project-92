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Nunito"/>
      <p:regular r:id="rId20"/>
      <p:bold r:id="rId21"/>
      <p:italic r:id="rId22"/>
      <p:boldItalic r:id="rId23"/>
    </p:embeddedFont>
    <p:embeddedFont>
      <p:font typeface="Maven Pro"/>
      <p:regular r:id="rId24"/>
      <p:bold r:id="rId25"/>
    </p:embeddedFont>
    <p:embeddedFont>
      <p:font typeface="Merriweather SemiBold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22" Type="http://schemas.openxmlformats.org/officeDocument/2006/relationships/font" Target="fonts/Nunito-italic.fntdata"/><Relationship Id="rId21" Type="http://schemas.openxmlformats.org/officeDocument/2006/relationships/font" Target="fonts/Nunito-bold.fntdata"/><Relationship Id="rId24" Type="http://schemas.openxmlformats.org/officeDocument/2006/relationships/font" Target="fonts/MavenPro-regular.fntdata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SemiBold-regular.fntdata"/><Relationship Id="rId25" Type="http://schemas.openxmlformats.org/officeDocument/2006/relationships/font" Target="fonts/MavenPro-bold.fntdata"/><Relationship Id="rId28" Type="http://schemas.openxmlformats.org/officeDocument/2006/relationships/font" Target="fonts/MerriweatherSemiBold-italic.fntdata"/><Relationship Id="rId27" Type="http://schemas.openxmlformats.org/officeDocument/2006/relationships/font" Target="fonts/Merriweather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6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90e6f2cbf7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90e6f2cbf7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90e6f2cbf7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90e6f2cbf7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55efcd1a6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a55efcd1a6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90e6f2cbf7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90e6f2cbf7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90e6f2cbf7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90e6f2cbf7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0e6f2cbf7_0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90e6f2cbf7_0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90e6f2cbf7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90e6f2cbf7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90e6f2cbf7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90e6f2cbf7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0e6f2cbf7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0e6f2cbf7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137925" y="337425"/>
            <a:ext cx="6030000" cy="263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3300">
                <a:latin typeface="Merriweather"/>
                <a:ea typeface="Merriweather"/>
                <a:cs typeface="Merriweather"/>
                <a:sym typeface="Merriweather"/>
              </a:rPr>
              <a:t>Анализ эффективности продаж: Ключевые инсайты и выводы</a:t>
            </a:r>
            <a:endParaRPr b="0" sz="5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137925" y="4672675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762">
                <a:latin typeface="Merriweather"/>
                <a:ea typeface="Merriweather"/>
                <a:cs typeface="Merriweather"/>
                <a:sym typeface="Merriweather"/>
              </a:rPr>
              <a:t>Автор презентации: Шкуропатов Ярослав</a:t>
            </a:r>
            <a:endParaRPr sz="100"/>
          </a:p>
        </p:txBody>
      </p:sp>
      <p:sp>
        <p:nvSpPr>
          <p:cNvPr id="279" name="Google Shape;279;p13"/>
          <p:cNvSpPr txBox="1"/>
          <p:nvPr/>
        </p:nvSpPr>
        <p:spPr>
          <a:xfrm>
            <a:off x="2928725" y="695150"/>
            <a:ext cx="6226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389450" y="481350"/>
            <a:ext cx="3340500" cy="28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90"/>
              <a:buNone/>
            </a:pPr>
            <a:r>
              <a:rPr b="0" lang="ru" sz="2170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Цель - </a:t>
            </a:r>
            <a:endParaRPr b="0" sz="2170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990"/>
              <a:buNone/>
            </a:pPr>
            <a:r>
              <a:rPr b="0" lang="ru" sz="2170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Выявить точки роста и возможности для повышения общей эффективности команды.</a:t>
            </a:r>
            <a:endParaRPr b="0" sz="6400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4307000" y="1741075"/>
            <a:ext cx="4661100" cy="236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5"/>
              <a:buFont typeface="Arial"/>
              <a:buNone/>
            </a:pPr>
            <a:r>
              <a:rPr lang="ru" sz="18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Мы проанализировали данные о продажах, чтобы понять:</a:t>
            </a:r>
            <a:endParaRPr sz="1842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26548" lvl="0" marL="457200" marR="0" rtl="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0F1115"/>
              </a:buClr>
              <a:buSzPts val="1543"/>
              <a:buFont typeface="Merriweather SemiBold"/>
              <a:buChar char="❏"/>
            </a:pPr>
            <a:r>
              <a:rPr lang="ru" sz="15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кто наши самые успешные продавцы?</a:t>
            </a:r>
            <a:endParaRPr sz="1542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26548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43"/>
              <a:buFont typeface="Merriweather SemiBold"/>
              <a:buChar char="❏"/>
            </a:pPr>
            <a:r>
              <a:rPr lang="ru" sz="15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 какие дни недели продажи наиболее активны?</a:t>
            </a:r>
            <a:endParaRPr sz="1542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26548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43"/>
              <a:buFont typeface="Merriweather SemiBold"/>
              <a:buChar char="❏"/>
            </a:pPr>
            <a:r>
              <a:rPr lang="ru" sz="15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кто наши клиенты?</a:t>
            </a:r>
            <a:endParaRPr sz="1542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-326548" lvl="0" marL="4572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543"/>
              <a:buFont typeface="Merriweather SemiBold"/>
              <a:buChar char="❏"/>
            </a:pPr>
            <a:r>
              <a:rPr lang="ru" sz="15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как менялась активность с течением времени?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>
              <a:solidFill>
                <a:srgbClr val="0F1115"/>
              </a:solidFill>
              <a:highlight>
                <a:srgbClr val="FFFFFF"/>
              </a:highlight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cxnSp>
        <p:nvCxnSpPr>
          <p:cNvPr id="286" name="Google Shape;286;p14"/>
          <p:cNvCxnSpPr/>
          <p:nvPr/>
        </p:nvCxnSpPr>
        <p:spPr>
          <a:xfrm>
            <a:off x="530000" y="1189950"/>
            <a:ext cx="30594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14"/>
          <p:cNvCxnSpPr/>
          <p:nvPr/>
        </p:nvCxnSpPr>
        <p:spPr>
          <a:xfrm>
            <a:off x="4421900" y="2483375"/>
            <a:ext cx="44313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61450" y="97925"/>
            <a:ext cx="6366900" cy="8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lang="ru" sz="18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Топ-10 продавцов по выручке</a:t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4300900" y="548775"/>
            <a:ext cx="45795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537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91440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537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На графике представлены наши абсолютные лидеры</a:t>
            </a:r>
            <a:endParaRPr sz="1537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914400" rtl="0" algn="l">
              <a:lnSpc>
                <a:spcPct val="10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537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Дирк Стрингер и Мишель Дефранс генерируют значительную часть общего дохода, значительно опережая остальных</a:t>
            </a:r>
            <a:endParaRPr sz="1537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28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28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94" name="Google Shape;294;p15" title="суммарная-выручка-2025-11-17T10-27-12.145Z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75" y="1059079"/>
            <a:ext cx="4919499" cy="361752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5"/>
          <p:cNvSpPr txBox="1"/>
          <p:nvPr/>
        </p:nvSpPr>
        <p:spPr>
          <a:xfrm>
            <a:off x="4300900" y="3577675"/>
            <a:ext cx="44637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05000"/>
              </a:lnSpc>
              <a:spcBef>
                <a:spcPts val="1900"/>
              </a:spcBef>
              <a:spcAft>
                <a:spcPts val="1200"/>
              </a:spcAft>
              <a:buNone/>
            </a:pPr>
            <a:r>
              <a:rPr lang="ru" sz="1537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Вывод: Важно изучить и распространить лучшие практики этих лидеров на всю команду</a:t>
            </a:r>
            <a:endParaRPr sz="128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96" name="Google Shape;296;p15"/>
          <p:cNvCxnSpPr/>
          <p:nvPr/>
        </p:nvCxnSpPr>
        <p:spPr>
          <a:xfrm>
            <a:off x="5245675" y="3473125"/>
            <a:ext cx="343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6"/>
          <p:cNvSpPr txBox="1"/>
          <p:nvPr>
            <p:ph type="title"/>
          </p:nvPr>
        </p:nvSpPr>
        <p:spPr>
          <a:xfrm>
            <a:off x="61450" y="97925"/>
            <a:ext cx="6366900" cy="86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b="0" lang="ru" sz="18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Топ-10 продавцов по </a:t>
            </a:r>
            <a:r>
              <a:rPr b="0" lang="ru" sz="18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количеству</a:t>
            </a:r>
            <a:r>
              <a:rPr b="0" lang="ru" sz="18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 продаж</a:t>
            </a:r>
            <a:endParaRPr/>
          </a:p>
        </p:txBody>
      </p:sp>
      <p:sp>
        <p:nvSpPr>
          <p:cNvPr id="302" name="Google Shape;302;p16"/>
          <p:cNvSpPr txBox="1"/>
          <p:nvPr>
            <p:ph idx="1" type="body"/>
          </p:nvPr>
        </p:nvSpPr>
        <p:spPr>
          <a:xfrm>
            <a:off x="4358800" y="611325"/>
            <a:ext cx="45795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237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914400" rtl="0" algn="l">
              <a:lnSpc>
                <a:spcPct val="10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5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Абрахам Беннет — абсолютный лидер по количеству сделок, обрабатывающий на 70% больше операций, чем средний показатель топ-10. </a:t>
            </a:r>
            <a:endParaRPr sz="98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98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4358800" y="4071825"/>
            <a:ext cx="44637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05000"/>
              </a:lnSpc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 sz="1280">
              <a:solidFill>
                <a:srgbClr val="0F111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4" name="Google Shape;304;p16"/>
          <p:cNvCxnSpPr/>
          <p:nvPr/>
        </p:nvCxnSpPr>
        <p:spPr>
          <a:xfrm>
            <a:off x="5126600" y="1142325"/>
            <a:ext cx="8100" cy="33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5" name="Google Shape;30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25" y="1142325"/>
            <a:ext cx="4813101" cy="3275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6"/>
          <p:cNvSpPr txBox="1"/>
          <p:nvPr/>
        </p:nvSpPr>
        <p:spPr>
          <a:xfrm>
            <a:off x="4358800" y="2571750"/>
            <a:ext cx="4463700" cy="20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05000"/>
              </a:lnSpc>
              <a:spcBef>
                <a:spcPts val="1900"/>
              </a:spcBef>
              <a:spcAft>
                <a:spcPts val="1200"/>
              </a:spcAft>
              <a:buNone/>
            </a:pPr>
            <a:r>
              <a:rPr lang="ru" sz="14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Рекомендуется провести</a:t>
            </a:r>
            <a:r>
              <a:rPr lang="ru" sz="1442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 анализ эффективности Абрахама Беннета — изучить причины низкой конверсии сделок в доход и передать его методики работы с большим объемом клиентов остальным продавцам для роста общей выручки отдела.</a:t>
            </a:r>
            <a:endParaRPr sz="1137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"/>
          <p:cNvSpPr txBox="1"/>
          <p:nvPr>
            <p:ph type="title"/>
          </p:nvPr>
        </p:nvSpPr>
        <p:spPr>
          <a:xfrm>
            <a:off x="1175325" y="3603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"/>
          <p:cNvSpPr txBox="1"/>
          <p:nvPr>
            <p:ph idx="1" type="body"/>
          </p:nvPr>
        </p:nvSpPr>
        <p:spPr>
          <a:xfrm>
            <a:off x="46000" y="27025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37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Продавцы с самым низким средним доходом за сделку</a:t>
            </a:r>
            <a:endParaRPr sz="1400"/>
          </a:p>
        </p:txBody>
      </p:sp>
      <p:sp>
        <p:nvSpPr>
          <p:cNvPr id="313" name="Google Shape;313;p17"/>
          <p:cNvSpPr txBox="1"/>
          <p:nvPr>
            <p:ph idx="1" type="body"/>
          </p:nvPr>
        </p:nvSpPr>
        <p:spPr>
          <a:xfrm>
            <a:off x="236950" y="3507875"/>
            <a:ext cx="8282700" cy="151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ru" sz="1200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Данные показывают, что 15 продавцов работают с минимальным средним чеком, при этом их совокупный объем операций составляет 23,747 сделок, что свидетельствует о высокой операционной нагрузке при низкой доходности.</a:t>
            </a:r>
            <a:endParaRPr sz="1184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ru" sz="1200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Системный подход к развитию аутсайдеров может принести дополнительно 2+ млрд ₽ годового дохода при одновременном снижении операционных затрат. Инвестиции в обучение окупятся в течение 3-4 месяцев.</a:t>
            </a:r>
            <a:endParaRPr sz="1100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500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pic>
        <p:nvPicPr>
          <p:cNvPr id="314" name="Google Shape;3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950" y="661725"/>
            <a:ext cx="8282701" cy="2721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5" name="Google Shape;315;p17"/>
          <p:cNvCxnSpPr>
            <a:stCxn id="313" idx="1"/>
            <a:endCxn id="313" idx="3"/>
          </p:cNvCxnSpPr>
          <p:nvPr/>
        </p:nvCxnSpPr>
        <p:spPr>
          <a:xfrm>
            <a:off x="236950" y="4267025"/>
            <a:ext cx="828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8"/>
          <p:cNvSpPr txBox="1"/>
          <p:nvPr>
            <p:ph type="title"/>
          </p:nvPr>
        </p:nvSpPr>
        <p:spPr>
          <a:xfrm>
            <a:off x="2777100" y="72211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8"/>
          <p:cNvSpPr txBox="1"/>
          <p:nvPr>
            <p:ph idx="1" type="body"/>
          </p:nvPr>
        </p:nvSpPr>
        <p:spPr>
          <a:xfrm>
            <a:off x="410200" y="-67500"/>
            <a:ext cx="76275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Динамика продаж по дням недели (на примере топ-продавца</a:t>
            </a:r>
            <a:r>
              <a:rPr lang="ru" sz="1800">
                <a:solidFill>
                  <a:srgbClr val="0F1115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1900"/>
          </a:p>
        </p:txBody>
      </p:sp>
      <p:sp>
        <p:nvSpPr>
          <p:cNvPr id="322" name="Google Shape;322;p18"/>
          <p:cNvSpPr txBox="1"/>
          <p:nvPr>
            <p:ph idx="1" type="body"/>
          </p:nvPr>
        </p:nvSpPr>
        <p:spPr>
          <a:xfrm>
            <a:off x="6167825" y="220138"/>
            <a:ext cx="2717400" cy="322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16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11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График показывает продавцов с самой низкой средней выручкой за операцию</a:t>
            </a:r>
            <a:endParaRPr sz="1151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rPr lang="ru" sz="11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Это не значит, что они плохие сотрудники — они могут работать с меньшими, но более частыми сделками</a:t>
            </a:r>
            <a:endParaRPr sz="1151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900"/>
              </a:spcBef>
              <a:spcAft>
                <a:spcPts val="0"/>
              </a:spcAft>
              <a:buNone/>
            </a:pPr>
            <a:r>
              <a:t/>
            </a:r>
            <a:endParaRPr sz="116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116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3" name="Google Shape;3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325" y="420250"/>
            <a:ext cx="6480174" cy="282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8"/>
          <p:cNvSpPr txBox="1"/>
          <p:nvPr>
            <p:ph idx="1" type="body"/>
          </p:nvPr>
        </p:nvSpPr>
        <p:spPr>
          <a:xfrm>
            <a:off x="185275" y="3390775"/>
            <a:ext cx="75684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84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Вторник - пик продаж (+13.6% против среды)</a:t>
            </a:r>
            <a:endParaRPr sz="1184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84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Среда - спад на 470 млн ₽</a:t>
            </a:r>
            <a:endParaRPr sz="1184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275"/>
              <a:buNone/>
            </a:pPr>
            <a:r>
              <a:t/>
            </a:r>
            <a:endParaRPr sz="1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486325" y="4049700"/>
            <a:ext cx="7989900" cy="10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Вывод:</a:t>
            </a:r>
            <a:endParaRPr sz="1451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Требуется оптимизация и  распределение нагрузки: Перенесение  ключевых переговоров на понедельник-вторник, среду использовать для планирования и работы с документами. Это даст до +15% к эффективности команды</a:t>
            </a:r>
            <a:endParaRPr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5637875" y="3241125"/>
            <a:ext cx="3000000" cy="11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84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Т</a:t>
            </a:r>
            <a:r>
              <a:rPr lang="ru" sz="1184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оп-продавцы показывают стабильность (±15%)</a:t>
            </a:r>
            <a:endParaRPr sz="1184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84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Аутсайдеры теряют до 27% выручки в середине недели</a:t>
            </a:r>
            <a:endParaRPr sz="10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27" name="Google Shape;327;p18"/>
          <p:cNvCxnSpPr/>
          <p:nvPr/>
        </p:nvCxnSpPr>
        <p:spPr>
          <a:xfrm>
            <a:off x="736800" y="3946375"/>
            <a:ext cx="383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"/>
          <p:cNvSpPr txBox="1"/>
          <p:nvPr>
            <p:ph type="title"/>
          </p:nvPr>
        </p:nvSpPr>
        <p:spPr>
          <a:xfrm>
            <a:off x="1971075" y="-1415600"/>
            <a:ext cx="54147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"/>
          <p:cNvSpPr txBox="1"/>
          <p:nvPr>
            <p:ph idx="1" type="body"/>
          </p:nvPr>
        </p:nvSpPr>
        <p:spPr>
          <a:xfrm>
            <a:off x="213375" y="76425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Возрастные категории клиентов</a:t>
            </a:r>
            <a:endParaRPr b="1" sz="17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9"/>
          <p:cNvSpPr txBox="1"/>
          <p:nvPr>
            <p:ph idx="1" type="body"/>
          </p:nvPr>
        </p:nvSpPr>
        <p:spPr>
          <a:xfrm>
            <a:off x="333800" y="3219650"/>
            <a:ext cx="7401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Абсолютное большинство клиентов (более 60%) относятся к категории “40+”</a:t>
            </a:r>
            <a:endParaRPr sz="1451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Молодежная аудитория (16-25) представляет собой наименьшую долю</a:t>
            </a:r>
            <a:endParaRPr sz="1451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5" name="Google Shape;33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525" y="572925"/>
            <a:ext cx="6966400" cy="2554924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9"/>
          <p:cNvSpPr txBox="1"/>
          <p:nvPr/>
        </p:nvSpPr>
        <p:spPr>
          <a:xfrm>
            <a:off x="213375" y="4239050"/>
            <a:ext cx="82029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51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Вывод:  Основная клиентская база — зрелые люди. Существует потенциал для разработки стратегий по привлечению более молодой аудитории</a:t>
            </a:r>
            <a:endParaRPr/>
          </a:p>
        </p:txBody>
      </p:sp>
      <p:cxnSp>
        <p:nvCxnSpPr>
          <p:cNvPr id="337" name="Google Shape;337;p19"/>
          <p:cNvCxnSpPr/>
          <p:nvPr/>
        </p:nvCxnSpPr>
        <p:spPr>
          <a:xfrm>
            <a:off x="360325" y="4137450"/>
            <a:ext cx="74019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0"/>
          <p:cNvSpPr txBox="1"/>
          <p:nvPr>
            <p:ph type="title"/>
          </p:nvPr>
        </p:nvSpPr>
        <p:spPr>
          <a:xfrm>
            <a:off x="1643050" y="-1446200"/>
            <a:ext cx="54147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0"/>
          <p:cNvSpPr txBox="1"/>
          <p:nvPr>
            <p:ph idx="1" type="body"/>
          </p:nvPr>
        </p:nvSpPr>
        <p:spPr>
          <a:xfrm>
            <a:off x="387700" y="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Динамика покупателей по месяцам</a:t>
            </a:r>
            <a:endParaRPr b="1" sz="18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44" name="Google Shape;344;p20"/>
          <p:cNvSpPr txBox="1"/>
          <p:nvPr>
            <p:ph idx="1" type="body"/>
          </p:nvPr>
        </p:nvSpPr>
        <p:spPr>
          <a:xfrm>
            <a:off x="-266425" y="4449950"/>
            <a:ext cx="79254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SzPts val="605"/>
              <a:buNone/>
            </a:pPr>
            <a:r>
              <a:rPr lang="ru" sz="12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Вывод: Компания находится на траектории активного роста. Текущая стратегия работает эффективно.</a:t>
            </a:r>
            <a:endParaRPr sz="1298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16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5" name="Google Shape;3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00" y="462100"/>
            <a:ext cx="6552724" cy="29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0"/>
          <p:cNvSpPr txBox="1"/>
          <p:nvPr/>
        </p:nvSpPr>
        <p:spPr>
          <a:xfrm>
            <a:off x="6541875" y="386825"/>
            <a:ext cx="2480700" cy="25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2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Наблюдается </a:t>
            </a:r>
            <a:r>
              <a:rPr lang="ru" sz="12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стабильный рост как количества клиентов, так и общего дохода.</a:t>
            </a:r>
            <a:endParaRPr sz="1298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2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Особенно сильный скачок дохода произошел в октябре после запуска в сентябре.</a:t>
            </a:r>
            <a:endParaRPr sz="1298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-68850" y="3366550"/>
            <a:ext cx="76590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" sz="12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Количество клиентов стабильно (±2%)</a:t>
            </a:r>
            <a:endParaRPr sz="1298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" sz="12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Доход вырос в 3.2 раза с сентября по октябрь</a:t>
            </a:r>
            <a:endParaRPr sz="1298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ru" sz="12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 октябре достигнут пик доходности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8" name="Google Shape;348;p20"/>
          <p:cNvCxnSpPr/>
          <p:nvPr/>
        </p:nvCxnSpPr>
        <p:spPr>
          <a:xfrm>
            <a:off x="245550" y="4347100"/>
            <a:ext cx="75168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"/>
          <p:cNvSpPr txBox="1"/>
          <p:nvPr>
            <p:ph type="title"/>
          </p:nvPr>
        </p:nvSpPr>
        <p:spPr>
          <a:xfrm>
            <a:off x="617200" y="0"/>
            <a:ext cx="5414700" cy="9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ru" sz="1598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Успешные акции: Анализ специального предложения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1"/>
          <p:cNvSpPr txBox="1"/>
          <p:nvPr>
            <p:ph idx="1" type="body"/>
          </p:nvPr>
        </p:nvSpPr>
        <p:spPr>
          <a:xfrm>
            <a:off x="1018875" y="12831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200">
                <a:solidFill>
                  <a:srgbClr val="0F111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Результаты специальной акции (сентябрь 1992)</a:t>
            </a:r>
            <a:endParaRPr/>
          </a:p>
        </p:txBody>
      </p:sp>
      <p:sp>
        <p:nvSpPr>
          <p:cNvPr id="355" name="Google Shape;355;p21"/>
          <p:cNvSpPr txBox="1"/>
          <p:nvPr>
            <p:ph idx="1" type="body"/>
          </p:nvPr>
        </p:nvSpPr>
        <p:spPr>
          <a:xfrm>
            <a:off x="6224450" y="1406500"/>
            <a:ext cx="29427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219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Акция была наиболее активна в первые два дня</a:t>
            </a:r>
            <a:endParaRPr sz="1219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219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219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На продавцов Майкла О Лири и </a:t>
            </a:r>
            <a:endParaRPr sz="1219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ru" sz="1219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Дирка Стрингер пришлось наибольшее количество сделок по акции</a:t>
            </a:r>
            <a:endParaRPr sz="1090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09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109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6" name="Google Shape;3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50" y="842275"/>
            <a:ext cx="5799798" cy="2632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1"/>
          <p:cNvSpPr txBox="1"/>
          <p:nvPr/>
        </p:nvSpPr>
        <p:spPr>
          <a:xfrm>
            <a:off x="-110325" y="4115175"/>
            <a:ext cx="86253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219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Вывод: </a:t>
            </a:r>
            <a:endParaRPr sz="1219">
              <a:solidFill>
                <a:srgbClr val="0F1115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219">
                <a:solidFill>
                  <a:srgbClr val="0F1115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Акция была успешной. В будущем можно фокусировать рекламу на самых результативных продавцах и концентрировать усилия в первые дни</a:t>
            </a:r>
            <a:endParaRPr/>
          </a:p>
        </p:txBody>
      </p:sp>
      <p:cxnSp>
        <p:nvCxnSpPr>
          <p:cNvPr id="358" name="Google Shape;358;p21"/>
          <p:cNvCxnSpPr/>
          <p:nvPr/>
        </p:nvCxnSpPr>
        <p:spPr>
          <a:xfrm>
            <a:off x="424650" y="3956975"/>
            <a:ext cx="7941300" cy="1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"/>
          <p:cNvSpPr txBox="1"/>
          <p:nvPr>
            <p:ph type="title"/>
          </p:nvPr>
        </p:nvSpPr>
        <p:spPr>
          <a:xfrm>
            <a:off x="837750" y="447625"/>
            <a:ext cx="5414700" cy="111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rPr b="0" lang="ru" sz="2638">
                <a:latin typeface="Merriweather SemiBold"/>
                <a:ea typeface="Merriweather SemiBold"/>
                <a:cs typeface="Merriweather SemiBold"/>
                <a:sym typeface="Merriweather SemiBold"/>
              </a:rPr>
              <a:t>Спасибо за внимание!</a:t>
            </a:r>
            <a:endParaRPr sz="2938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75000"/>
              </a:lnSpc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8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8400"/>
          </a:p>
        </p:txBody>
      </p:sp>
      <p:sp>
        <p:nvSpPr>
          <p:cNvPr id="364" name="Google Shape;364;p22"/>
          <p:cNvSpPr txBox="1"/>
          <p:nvPr>
            <p:ph idx="1" type="body"/>
          </p:nvPr>
        </p:nvSpPr>
        <p:spPr>
          <a:xfrm>
            <a:off x="-299650" y="358325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677">
                <a:latin typeface="Merriweather SemiBold"/>
                <a:ea typeface="Merriweather SemiBold"/>
                <a:cs typeface="Merriweather SemiBold"/>
                <a:sym typeface="Merriweather SemiBold"/>
              </a:rPr>
              <a:t>Ссылка на интерактивный дашборд:</a:t>
            </a:r>
            <a:endParaRPr sz="677"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677">
                <a:latin typeface="Merriweather SemiBold"/>
                <a:ea typeface="Merriweather SemiBold"/>
                <a:cs typeface="Merriweather SemiBold"/>
                <a:sym typeface="Merriweather SemiBold"/>
              </a:rPr>
              <a:t>https://4ebb0f64.us1a.app.preset.io/superset/dashboard/p/nRLVaZAOQz5/</a:t>
            </a:r>
            <a:endParaRPr sz="677">
              <a:latin typeface="Merriweather SemiBold"/>
              <a:ea typeface="Merriweather SemiBold"/>
              <a:cs typeface="Merriweather SemiBold"/>
              <a:sym typeface="Merriweather SemiBold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2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22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